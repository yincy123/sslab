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tif" ContentType="image/tiff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685800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zh-CN" sz="4400" spc="-1" strike="noStrike">
                <a:solidFill>
                  <a:srgbClr val="000000"/>
                </a:solidFill>
                <a:latin typeface="Calibri"/>
              </a:rPr>
              <a:t>单击此处编辑母版标题样式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38065CDE-2E6A-48A5-B4DF-A7E5AFB6A6FF}" type="datetime">
              <a:rPr b="0" lang="en-US" sz="1200" spc="-1" strike="noStrike">
                <a:solidFill>
                  <a:srgbClr val="8b8b8b"/>
                </a:solidFill>
                <a:latin typeface="Calibri"/>
              </a:rPr>
              <a:t>4/29/21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D762C760-0669-4CAE-A374-5D5DE3E0F674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10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zh-CN" sz="4400" spc="-1" strike="noStrike">
                <a:solidFill>
                  <a:srgbClr val="000000"/>
                </a:solidFill>
                <a:latin typeface="Calibri"/>
              </a:rPr>
              <a:t>单击此处编辑母版标题样式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>
            <a:noAutofit/>
          </a:bodyPr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3200" spc="-1" strike="noStrike">
                <a:solidFill>
                  <a:srgbClr val="000000"/>
                </a:solidFill>
                <a:latin typeface="Calibri"/>
              </a:rPr>
              <a:t>单击此处编辑母版文本样式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zh-CN" sz="2800" spc="-1" strike="noStrike">
                <a:solidFill>
                  <a:srgbClr val="000000"/>
                </a:solidFill>
                <a:latin typeface="Calibri"/>
              </a:rPr>
              <a:t>第二级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pc="-1" strike="noStrike">
                <a:solidFill>
                  <a:srgbClr val="000000"/>
                </a:solidFill>
                <a:latin typeface="Calibri"/>
              </a:rPr>
              <a:t>第三级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zh-CN" sz="2000" spc="-1" strike="noStrike">
                <a:solidFill>
                  <a:srgbClr val="000000"/>
                </a:solidFill>
                <a:latin typeface="Calibri"/>
              </a:rPr>
              <a:t>第四级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zh-CN" sz="2000" spc="-1" strike="noStrike">
                <a:solidFill>
                  <a:srgbClr val="000000"/>
                </a:solidFill>
                <a:latin typeface="Calibri"/>
              </a:rPr>
              <a:t>第五级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F967C381-9A45-4ED2-AC20-8377FD592174}" type="datetime">
              <a:rPr b="0" lang="en-US" sz="1200" spc="-1" strike="noStrike">
                <a:solidFill>
                  <a:srgbClr val="8b8b8b"/>
                </a:solidFill>
                <a:latin typeface="Calibri"/>
              </a:rPr>
              <a:t>4/29/21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BAA5EAA3-ABEF-40EE-94B0-AF84A8E08715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tif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Shape 1"/>
          <p:cNvSpPr txBox="1"/>
          <p:nvPr/>
        </p:nvSpPr>
        <p:spPr>
          <a:xfrm>
            <a:off x="685800" y="249300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fontScale="47000"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The potential roles of bone marrow (monocyte)-derived renal macrophages in steady state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Shape 1"/>
          <p:cNvSpPr txBox="1"/>
          <p:nvPr/>
        </p:nvSpPr>
        <p:spPr>
          <a:xfrm>
            <a:off x="323640" y="274680"/>
            <a:ext cx="849672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3200" spc="-1" strike="noStrike">
                <a:solidFill>
                  <a:srgbClr val="0070c0"/>
                </a:solidFill>
                <a:latin typeface="Calibri"/>
              </a:rPr>
              <a:t>RNA-seq data indicate multifaceted functions of monocyte-derived macrophages in the kidney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84" name="图片 3" descr="20200818_barplot_GO.tif"/>
          <p:cNvPicPr/>
          <p:nvPr/>
        </p:nvPicPr>
        <p:blipFill>
          <a:blip r:embed="rId1"/>
          <a:stretch/>
        </p:blipFill>
        <p:spPr>
          <a:xfrm>
            <a:off x="1619640" y="1763280"/>
            <a:ext cx="6192360" cy="50943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3600" spc="-1" strike="noStrike">
                <a:solidFill>
                  <a:srgbClr val="0070c0"/>
                </a:solidFill>
                <a:latin typeface="Calibri"/>
              </a:rPr>
              <a:t>Among the top 500 highly expressed genes in monocyte-derived macrophages</a:t>
            </a: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6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1. Iron homeostasis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0" lang="en-US" sz="3200" spc="-1" strike="noStrike">
                <a:solidFill>
                  <a:srgbClr val="0070c0"/>
                </a:solidFill>
                <a:latin typeface="Calibri"/>
              </a:rPr>
              <a:t>Ftl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 (Ferritin Light Chain, NO.9)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0" lang="en-US" sz="3200" spc="-1" strike="noStrike">
                <a:solidFill>
                  <a:srgbClr val="0070c0"/>
                </a:solidFill>
                <a:latin typeface="Calibri"/>
              </a:rPr>
              <a:t>Fth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 (Ferritin Heavy Chain, NO.17)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56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b050"/>
                </a:solidFill>
                <a:latin typeface="Calibri"/>
              </a:rPr>
              <a:t>*Both are significantly higher than those in self-maintaining macrophages.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Trf (Transferrin, NO. 158)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3600" spc="-1" strike="noStrike">
                <a:solidFill>
                  <a:srgbClr val="0070c0"/>
                </a:solidFill>
                <a:latin typeface="Calibri"/>
              </a:rPr>
              <a:t>Among the top 500 highly expressed genes in monocyte-derived macrophages</a:t>
            </a: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8" name="TextShape 2"/>
          <p:cNvSpPr txBox="1"/>
          <p:nvPr/>
        </p:nvSpPr>
        <p:spPr>
          <a:xfrm>
            <a:off x="457200" y="170064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2. Lipid transporters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Apoe (Apolipoprotein E, NO.11)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Lrp1 (LDL Receptor Related Protein 1, APOER, NO. 129)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0" lang="en-US" sz="3200" spc="-1" strike="noStrike">
                <a:solidFill>
                  <a:srgbClr val="00b0f0"/>
                </a:solidFill>
                <a:latin typeface="Calibri"/>
              </a:rPr>
              <a:t>*Slc27a2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 (Fatty Acid Transporter, NO.354)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56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b050"/>
                </a:solidFill>
                <a:latin typeface="Calibri"/>
              </a:rPr>
              <a:t>*Is significantly higher than that in self-maintaining macrophages.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Shape 1"/>
          <p:cNvSpPr txBox="1"/>
          <p:nvPr/>
        </p:nvSpPr>
        <p:spPr>
          <a:xfrm>
            <a:off x="457200" y="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3600" spc="-1" strike="noStrike">
                <a:solidFill>
                  <a:srgbClr val="0070c0"/>
                </a:solidFill>
                <a:latin typeface="Calibri"/>
              </a:rPr>
              <a:t>Among the top 500 highly expressed genes in monocyte-derived macrophages</a:t>
            </a: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0" name="TextShape 2"/>
          <p:cNvSpPr txBox="1"/>
          <p:nvPr/>
        </p:nvSpPr>
        <p:spPr>
          <a:xfrm>
            <a:off x="457200" y="1166040"/>
            <a:ext cx="8229240" cy="5502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3. Low MW protein transporters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0" lang="en-US" sz="3200" spc="-1" strike="noStrike">
                <a:solidFill>
                  <a:srgbClr val="00b0f0"/>
                </a:solidFill>
                <a:latin typeface="Calibri"/>
              </a:rPr>
              <a:t>*Lrp2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 (Megalin, NO.137)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0" lang="en-US" sz="3200" spc="-1" strike="noStrike">
                <a:solidFill>
                  <a:srgbClr val="00b0f0"/>
                </a:solidFill>
                <a:latin typeface="Calibri"/>
              </a:rPr>
              <a:t>*Cubn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 (cubilin)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56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b050"/>
                </a:solidFill>
                <a:latin typeface="Calibri"/>
              </a:rPr>
              <a:t>*Are significantly higher than those in self-maintaining macrophages.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Dab2 (DAB Adaptor Protein 2, NO.327)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3600" spc="-1" strike="noStrike">
                <a:solidFill>
                  <a:srgbClr val="0070c0"/>
                </a:solidFill>
                <a:latin typeface="Calibri"/>
              </a:rPr>
              <a:t>Among the top 500 highly expressed genes in monocyte-derived macrophages</a:t>
            </a: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457200" y="1600200"/>
            <a:ext cx="8229240" cy="492480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91000"/>
          </a:bodyPr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4. Phosphate transporters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0" lang="en-US" sz="3200" spc="-1" strike="noStrike">
                <a:solidFill>
                  <a:srgbClr val="0070c0"/>
                </a:solidFill>
                <a:latin typeface="Calibri"/>
              </a:rPr>
              <a:t>Slc34a1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 (type II sodium-phosphate cotransporter, NO.62): mediates 70-80% of the apical influx of phosphage. Mutations in this gene are associated with hypophosphatemia nephrolithiasis and osteoporosis. 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0" lang="en-US" sz="3200" spc="-1" strike="noStrike">
                <a:solidFill>
                  <a:srgbClr val="0070c0"/>
                </a:solidFill>
                <a:latin typeface="Calibri"/>
              </a:rPr>
              <a:t>Slc25a3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 (Phosphate Transport Protein): Transport of phosphate groups from the cytosol to the mitochondrial matrix. 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-US" sz="3000" spc="-1" strike="noStrike">
                <a:solidFill>
                  <a:srgbClr val="00b050"/>
                </a:solidFill>
                <a:latin typeface="Calibri"/>
              </a:rPr>
              <a:t>*Are significantly higher than those in self-maintaining macrophages.</a:t>
            </a:r>
            <a:endParaRPr b="0" lang="en-US" sz="30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endParaRPr b="0" lang="en-US" sz="30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endParaRPr b="0" lang="en-US" sz="3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3600" spc="-1" strike="noStrike">
                <a:solidFill>
                  <a:srgbClr val="0070c0"/>
                </a:solidFill>
                <a:latin typeface="Calibri"/>
              </a:rPr>
              <a:t>Among the top 500 highly expressed genes in monocyte-derived macrophages</a:t>
            </a: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5. Na and Cl transporter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0" lang="en-US" sz="3200" spc="-1" strike="noStrike">
                <a:solidFill>
                  <a:srgbClr val="0070c0"/>
                </a:solidFill>
                <a:latin typeface="Calibri"/>
              </a:rPr>
              <a:t>Slc12a3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 (NCC, NO.203): mediates sodium and chloride reabsorption in the distal convoluted tubule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56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b050"/>
                </a:solidFill>
                <a:latin typeface="Calibri"/>
              </a:rPr>
              <a:t>*Is significantly higher than that in self-maintaining macrophages.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3600" spc="-1" strike="noStrike">
                <a:solidFill>
                  <a:srgbClr val="0070c0"/>
                </a:solidFill>
                <a:latin typeface="Calibri"/>
              </a:rPr>
              <a:t>Among the top 500 highly expressed genes in monocyte-derived macrophages</a:t>
            </a: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6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6. Uromodulin 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Umod (Tamm-Horsfall Glycoprotein , NO.106): the most abundant protein in mammalian urine and exclusively expressed in the kidney. A constitutive inhibitor of calcium crystallization in renal fluids, and provides defense against urinary tract infections.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Shape 1"/>
          <p:cNvSpPr txBox="1"/>
          <p:nvPr/>
        </p:nvSpPr>
        <p:spPr>
          <a:xfrm>
            <a:off x="457200" y="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3600" spc="-1" strike="noStrike">
                <a:solidFill>
                  <a:srgbClr val="0070c0"/>
                </a:solidFill>
                <a:latin typeface="Calibri"/>
              </a:rPr>
              <a:t>Among the top 500 highly expressed genes in monocyte-derived macrophages</a:t>
            </a: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" name="TextShape 2"/>
          <p:cNvSpPr txBox="1"/>
          <p:nvPr/>
        </p:nvSpPr>
        <p:spPr>
          <a:xfrm>
            <a:off x="457200" y="1166040"/>
            <a:ext cx="8229240" cy="5502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7. Epithelial growth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0" lang="en-US" sz="3200" spc="-1" strike="noStrike">
                <a:solidFill>
                  <a:srgbClr val="0070c0"/>
                </a:solidFill>
                <a:latin typeface="Calibri"/>
              </a:rPr>
              <a:t>Egf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 (Epidermal Growth Factor, NO. 194)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0" lang="en-US" sz="3200" spc="-1" strike="noStrike">
                <a:solidFill>
                  <a:srgbClr val="00b050"/>
                </a:solidFill>
                <a:latin typeface="Calibri"/>
              </a:rPr>
              <a:t>*Is significantly higher than that in self-maintaining macrophages.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Shape 1"/>
          <p:cNvSpPr txBox="1"/>
          <p:nvPr/>
        </p:nvSpPr>
        <p:spPr>
          <a:xfrm>
            <a:off x="457200" y="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3600" spc="-1" strike="noStrike">
                <a:solidFill>
                  <a:srgbClr val="0070c0"/>
                </a:solidFill>
                <a:latin typeface="Calibri"/>
              </a:rPr>
              <a:t>Among the top 500 highly expressed genes in monocyte-derived macrophages</a:t>
            </a: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0" name="TextShape 2"/>
          <p:cNvSpPr txBox="1"/>
          <p:nvPr/>
        </p:nvSpPr>
        <p:spPr>
          <a:xfrm>
            <a:off x="457200" y="1166040"/>
            <a:ext cx="8229240" cy="550296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35000"/>
          </a:bodyPr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8. Adherence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0" lang="en-US" sz="3200" spc="-1" strike="noStrike">
                <a:solidFill>
                  <a:srgbClr val="0070c0"/>
                </a:solidFill>
                <a:latin typeface="Calibri"/>
              </a:rPr>
              <a:t>Tgfbi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 (Transforming Growth Factor Beta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Induced, a ligand recognition sequence for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several integrins)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0" lang="en-US" sz="3200" spc="-1" strike="noStrike">
                <a:solidFill>
                  <a:srgbClr val="0070c0"/>
                </a:solidFill>
                <a:latin typeface="Calibri"/>
              </a:rPr>
              <a:t>Itgax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 (CD11c)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0" lang="en-US" sz="3200" spc="-1" strike="noStrike">
                <a:solidFill>
                  <a:srgbClr val="0070c0"/>
                </a:solidFill>
                <a:latin typeface="Calibri"/>
              </a:rPr>
              <a:t>Tns1 (Tensin 1):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involved in focal adhesions,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regions of the plasma membrane where the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cell attaches to the extracellular matrix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581"/>
              </a:spcBef>
              <a:tabLst>
                <a:tab algn="l" pos="0"/>
              </a:tabLst>
            </a:pPr>
            <a:r>
              <a:rPr b="0" lang="en-US" sz="2900" spc="-1" strike="noStrike">
                <a:solidFill>
                  <a:srgbClr val="00b050"/>
                </a:solidFill>
                <a:latin typeface="Calibri"/>
              </a:rPr>
              <a:t>*Are significantly higher than those in self-</a:t>
            </a:r>
            <a:r>
              <a:rPr b="0" lang="en-US" sz="2900" spc="-1" strike="noStrike">
                <a:solidFill>
                  <a:srgbClr val="00b050"/>
                </a:solidFill>
                <a:latin typeface="Calibri"/>
              </a:rPr>
              <a:t>maintaining macrophages.</a:t>
            </a:r>
            <a:endParaRPr b="0" lang="en-US" sz="29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Icam1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Itgb1, Itgb2, Itgb5, Itga4, Itga9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Itgam (CD11b)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Plxnd1 (Plexin D1) and Plxnb2 (Plexin B2) :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receptors for semaphorins, regulating cell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migration )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Selplg (Selectin P Ligand): through high affinity,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calcium-dependent interactions with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selectins, mediates rapid rolling of leukocytes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over vascular surfaces during the initial steps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in inflammation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Ctnnb1 (Catenin Beta 1): constitute adherens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junctions for the creation and maintenance of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epithelial cell layers.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3600" spc="-1" strike="noStrike">
                <a:solidFill>
                  <a:srgbClr val="0070c0"/>
                </a:solidFill>
                <a:latin typeface="Calibri"/>
              </a:rPr>
              <a:t>Among the top 500 highly expressed genes in monocyte-derived macrophages</a:t>
            </a: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9. Complements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C1qa (NO.41)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C1qb (NO.40)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C1qc (NO.60)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In summary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Cleaning by phagocytosis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Sampling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Secretion (uromodulin)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Transporting (iron, phosphate,  sodium, fatty acid. Low MW protein)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Maintaining epithelial barrier (EGF)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fontScale="90000"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ff0000"/>
                </a:solidFill>
                <a:latin typeface="Calibri"/>
              </a:rPr>
              <a:t>Other research directions relevant to renal macrophages 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Cross-tissue comparison of macrophage transcriptomes.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Ligand-receptor pair analyses of renal macrophages and renal tissue cells.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Transcriptional search of renal tissue cells with high PDGFR expression. 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638</TotalTime>
  <Application>LibreOffice/6.4.7.2$Linux_X86_64 LibreOffice_project/40$Build-2</Application>
  <Words>615</Words>
  <Paragraphs>65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2021-04-06T07:41:37Z</dcterms:created>
  <dc:creator>WZ7040</dc:creator>
  <dc:description/>
  <dc:language>en-US</dc:language>
  <cp:lastModifiedBy/>
  <dcterms:modified xsi:type="dcterms:W3CDTF">2021-04-29T21:11:07Z</dcterms:modified>
  <cp:revision>19</cp:revision>
  <dc:subject/>
  <dc:title>The potential roles of bone marrow (monocyte)-derived renal macrophages in steady state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全屏显示(4:3)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13</vt:i4>
  </property>
</Properties>
</file>